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jpeg" ContentType="image/jpeg"/>
  <Default Extension="bin" ContentType="application/vnd.openxmlformats-officedocument.presentationml.printerSettings"/>
  <Default Extension="xml" ContentType="application/xml"/>
  <Override PartName="/ppt/theme/theme2.xml" ContentType="application/vnd.openxmlformats-officedocument.them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notesSlides/notesSlide6.xml" ContentType="application/vnd.openxmlformats-officedocument.presentationml.notesSlid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0" orient="horz" pos="2160" userDrawn="1">
          <p15:clr>
            <a:srgbClr val="A4A3A4"/>
          </p15:clr>
        </p15:guide>
        <p15:guide id="1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tableStyles" Target="tableStyle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Slide Image Placeholder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Notes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E64F250-1900-4A9B-AE50-DAD7AED2FA6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466F4DE6-3F30-4BEF-BA1C-84793D8C750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2C65FA42-3980-4C1F-9D85-8907411691E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E66176FD-9065-41CF-B597-0D4B26BB645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FFC77168-9A6E-43D1-8D22-D5B07160C02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1C365D0-296A-4CF5-BDD7-EB9CC04B9C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F0C087E-255E-4B14-A6E9-2277D254924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3758FDF9-1440-4046-87DB-5EF16624001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D85FAF2-F935-4503-B56D-0AB1A6DC8B8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77" y="685800"/>
            <a:ext cx="6095847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C22A91CE-599C-4CAF-9B02-B2C2F9F2FCD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0F2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229171" cy="347472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54864" rtlCol="0" anchor="t"/>
          <a:lstStyle/>
          <a:p>
            <a:pPr algn="ctr"/>
            <a:r>
              <a:t>BÁO CÁO TIẾN ĐỘ &amp; QUÁ TRÌNH PHÁT TRIỂN HỆ THỐNG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694944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t>BÁO CÁO TIẾN ĐỘ &amp; PHÁT TRIỂN</a:t>
            </a:r>
          </a:p>
          <a:p>
            <a:pPr>
              <a:spcAft>
                <a:spcPts val="1000"/>
              </a:spcAft>
            </a:pPr>
            <a:r>
              <a:t>Website Thương Mại Điện Tử VPhone Store</a:t>
            </a:r>
          </a:p>
          <a:p>
            <a:pPr>
              <a:spcAft>
                <a:spcPts val="400"/>
              </a:spcAft>
            </a:pPr>
            <a:r>
              <a:t>Hệ sinh thái thương mại điện tử chuyên sâu thiết bị di động Flagship</a:t>
            </a:r>
          </a:p>
          <a:p>
            <a:r>
              <a:t>Kiến trúc PHP MVC  •  MySQL  •  XAMPP Localhost macOS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6949440" cy="4114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rPr sz="1400" b="1">
                <a:solidFill>
                  <a:srgbClr val="60A5FA"/>
                </a:solidFill>
                <a:latin typeface="Arial"/>
              </a:rPr>
              <a:t>CÔNG NGHỆ: </a:t>
            </a:r>
            <a:r>
              <a:rPr sz="1400">
                <a:solidFill>
                  <a:srgbClr val="FFFFFF"/>
                </a:solidFill>
                <a:latin typeface="Arial"/>
              </a:rPr>
              <a:t>PHP (Mô hình MVC) | MySQL | JavaScript/CSS | AI API | Git/GitHub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39"/>
            <a:ext cx="6949440" cy="21945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4142231"/>
            <a:ext cx="6492240" cy="18653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THÔNG TIN ĐỒ ÁN &amp; NGƯỜI THỰC HIỆN</a:t>
            </a:r>
          </a:p>
          <a:p>
            <a:pPr>
              <a:spcAft>
                <a:spcPts val="400"/>
              </a:spcAft>
            </a:pPr>
            <a:r>
              <a:t>Sinh viên / Người thực hiện: Huỳnh Ba Lực</a:t>
            </a:r>
          </a:p>
          <a:p>
            <a:pPr>
              <a:spcAft>
                <a:spcPts val="400"/>
              </a:spcAft>
            </a:pPr>
            <a:r>
              <a:t>• Vai trò: Lead Developer (Kiến trúc MVC, Tích hợp Fintech, Trợ lý AI &amp; UI/UX)</a:t>
            </a:r>
          </a:p>
          <a:p>
            <a:r>
              <a:t>Môi trường thực thi: XAMPP trên macOS  |  Quản lý mã nguồn: Git / GitHub</a:t>
            </a:r>
          </a:p>
        </p:txBody>
      </p:sp>
      <p:pic>
        <p:nvPicPr>
          <p:cNvPr id="9" name="Picture 8" descr="vphone-logo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86800" y="640080"/>
            <a:ext cx="2194560" cy="1936899"/>
          </a:xfrm>
          <a:prstGeom prst="rect">
            <a:avLst/>
          </a:prstGeom>
        </p:spPr>
      </p:pic>
      <p:pic>
        <p:nvPicPr>
          <p:cNvPr id="10" name="Picture 9" descr="iphone-16-promax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95360" y="2834640"/>
            <a:ext cx="246888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01 | TỔNG QUAN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TỔNG QUAN ĐỀ TÀI VPHONE STORE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Mục tiêu xây dựng hệ thống và phân tích nhu cầu các nhóm đối tượng sử dụng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02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937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365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MỤC TIÊU DỰ ÁN</a:t>
            </a:r>
          </a:p>
          <a:p>
            <a:pPr>
              <a:spcAft>
                <a:spcPts val="1400"/>
              </a:spcAft>
            </a:pPr>
            <a:r>
              <a:t>Định Vị &amp; Mục Tiêu Cốt Lõi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Xây dựng website bán lẻ điện thoại hiện đại, đa chức năng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Mang lại trải nghiệm mua sắm mượt mà từ chọn máy đến hậu mãi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Tối ưu hóa hiệu năng tải trang với kiến trúc PHP MVC hướng đối tượng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937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365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ĐỐI TƯỢNG NGƯỜI DÙNG</a:t>
            </a:r>
          </a:p>
          <a:p>
            <a:pPr>
              <a:spcAft>
                <a:spcPts val="1400"/>
              </a:spcAft>
            </a:pPr>
            <a:r>
              <a:t>Khách Hàng &amp; Ban Quản Trị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Khách hàng: Tìm kiếm, so sánh sản phẩm, đặt hàng, thanh toán, tích điểm, nhận tư vấn AI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Ban quản trị (Admin / Staff): Phân quyền quản lý đơn hàng, kho sản phẩm, theo dõi voucher và bảo hành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02 | LỘ TRÌNH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LỘ TRÌNH PHÁT TRIỂN HỆ THỐNG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Tiến trình xây dựng và hoàn thiện website VPhone Store qua 5 giai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03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56816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993392"/>
            <a:ext cx="1664208" cy="395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GIAI ĐOẠN 1</a:t>
            </a:r>
          </a:p>
          <a:p>
            <a:pPr>
              <a:spcAft>
                <a:spcPts val="1200"/>
              </a:spcAft>
            </a:pPr>
            <a:r>
              <a:t>Nền Tảng CSDL &amp; Danh Mục</a:t>
            </a:r>
          </a:p>
          <a:p>
            <a:pPr>
              <a:lnSpc>
                <a:spcPct val="118000"/>
              </a:lnSpc>
            </a:pPr>
            <a:r>
              <a:t>➔ Xây dựng nền tảng CSDL &amp; Quản lý danh mục sản phẩm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6936" y="1828800"/>
            <a:ext cx="1956816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1993392"/>
            <a:ext cx="1664208" cy="395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GIAI ĐOẠN 2</a:t>
            </a:r>
          </a:p>
          <a:p>
            <a:pPr>
              <a:spcAft>
                <a:spcPts val="1200"/>
              </a:spcAft>
            </a:pPr>
            <a:r>
              <a:t>Mua Hàng &amp; Hậu Mãi</a:t>
            </a:r>
          </a:p>
          <a:p>
            <a:pPr>
              <a:lnSpc>
                <a:spcPct val="118000"/>
              </a:lnSpc>
            </a:pPr>
            <a:r>
              <a:t>➔ Phát triển luồng Mua hàng, Mã giảm giá &amp; Theo dõi đơn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02352" y="1828800"/>
            <a:ext cx="1956816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48656" y="1993392"/>
            <a:ext cx="1664208" cy="395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GIAI ĐOẠN 3</a:t>
            </a:r>
          </a:p>
          <a:p>
            <a:pPr>
              <a:spcAft>
                <a:spcPts val="1200"/>
              </a:spcAft>
            </a:pPr>
            <a:r>
              <a:t>Tăng Cường Trải Nghiệm</a:t>
            </a:r>
          </a:p>
          <a:p>
            <a:pPr>
              <a:lnSpc>
                <a:spcPct val="118000"/>
              </a:lnSpc>
            </a:pPr>
            <a:r>
              <a:t>➔ Bộ lọc đa tiêu chí, So sánh máy, Tra cứu bảo hành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87768" y="1828800"/>
            <a:ext cx="1956816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1993392"/>
            <a:ext cx="1664208" cy="395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GIAI ĐOẠN 4</a:t>
            </a:r>
          </a:p>
          <a:p>
            <a:pPr>
              <a:spcAft>
                <a:spcPts val="1200"/>
              </a:spcAft>
            </a:pPr>
            <a:r>
              <a:t>Công Nghệ Nâng Cao</a:t>
            </a:r>
          </a:p>
          <a:p>
            <a:pPr>
              <a:lnSpc>
                <a:spcPct val="118000"/>
              </a:lnSpc>
            </a:pPr>
            <a:r>
              <a:t>➔ Tích hợp Google OAuth, Cổng thanh toán, AI Chatbot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3184" y="1828800"/>
            <a:ext cx="1956816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19488" y="1993392"/>
            <a:ext cx="1664208" cy="3950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t>GIAI ĐOẠN 5</a:t>
            </a:r>
          </a:p>
          <a:p>
            <a:pPr>
              <a:spcAft>
                <a:spcPts val="1200"/>
              </a:spcAft>
            </a:pPr>
            <a:r>
              <a:t>Hoàn Thiện Hệ Thống</a:t>
            </a:r>
          </a:p>
          <a:p>
            <a:pPr>
              <a:lnSpc>
                <a:spcPct val="118000"/>
              </a:lnSpc>
            </a:pPr>
            <a:r>
              <a:t>➔ Dark Mode, Hạng thành viên (Membership), Phân quyền RBAC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03 | GIAI ĐOẠN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THIẾT KẾ CƠ SỞ DỮ LIỆU &amp; DANH MỤC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Xây dựng cấu trúc bảng dữ liệu quan hệ và chuẩn hóa danh mục sản phẩm Flagship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04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937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365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CƠ SỞ DỮ LIỆU (DATABASE)</a:t>
            </a:r>
          </a:p>
          <a:p>
            <a:pPr>
              <a:spcAft>
                <a:spcPts val="1400"/>
              </a:spcAft>
            </a:pPr>
            <a:r>
              <a:t>Chuẩn Hóa Cấu Trúc Bảng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Chuẩn hóa bảng products, orders, order_details, users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Thiết lập các khóa ngoại ràng buộc toàn vẹn dữ liệu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Engine InnoDB hỗ trợ an toàn giao dịch đơn hàng chuẩn ACID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937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365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HÌNH ẢNH &amp; SẢN PHẨM</a:t>
            </a:r>
          </a:p>
          <a:p>
            <a:pPr>
              <a:spcAft>
                <a:spcPts val="1400"/>
              </a:spcAft>
            </a:pPr>
            <a:r>
              <a:t>Đồng Bộ Kho Tài Nguyên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Đồng bộ kho hình ảnh chất lượng cao theo từng phiên bản màu sắc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Đầy đủ các dòng máy: iPhone 11 - 17 Series, Xiaomi, Huawei Mate XT,...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Chuẩn hóa hiển thị tiền tệ VNĐ và cấu trúc thư mục tài nguyên (assets/images)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04 | GIAI ĐOẠN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QUY TRÌNH MUA HÀNG &amp; HẬU MÃI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Phát triển hệ sinh thái giỏ hàng, mã giảm giá và tính năng tra cứu đơn hàng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05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QUẢN LÝ VOUCHER</a:t>
            </a:r>
          </a:p>
          <a:p>
            <a:pPr>
              <a:spcAft>
                <a:spcPts val="1400"/>
              </a:spcAft>
            </a:pPr>
            <a:r>
              <a:t>Mã Giảm Giá Thông Minh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Tích hợp hệ thống mã giảm giá theo điều kiện đơn hàng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Tự động kiểm tra giá trị tối thiểu và trừ tiền chiết khấu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THEO DÕI ĐƠN HÀNG</a:t>
            </a:r>
          </a:p>
          <a:p>
            <a:pPr>
              <a:spcAft>
                <a:spcPts val="1400"/>
              </a:spcAft>
            </a:pPr>
            <a:r>
              <a:t>Order Tracking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Tra cứu nhanh theo mã vận đơn (#VP-xx) và số điện thoại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Hiển thị trạng thái chi tiết: Đang xử lý, Giao hàng, Đã hủy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Minh bạch lý do hủy đơn giúp nâng cao độ tin cậy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QUẢN LÝ NGƯỜI DÙNG</a:t>
            </a:r>
          </a:p>
          <a:p>
            <a:pPr>
              <a:spcAft>
                <a:spcPts val="1400"/>
              </a:spcAft>
            </a:pPr>
            <a:r>
              <a:t>Hồ Sơ Cá Nhân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Cập nhật thông tin tài khoản cá nhân và sổ địa chỉ nhận hàng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Quản lý và tra cứu toàn bộ lịch sử các đơn hàng đã đặt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05 | GIAI ĐOẠN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TỐI ƯU TÌM KIẾM &amp; TRẢI NGHIỆM KHÁCH HÀNG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Bộ lọc đa tiêu chí, công cụ so sánh song song và widget kết nối đa kênh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06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BỘ LỌC ĐA TIÊU CHÍ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Lọc thông minh theo khoảng giá, mức RAM, dung lượng ROM, thương hiệu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Sắp xếp linh hoạt theo giá tăng dần, giảm dần và bán chạy nhất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SO SÁNH SẢN PHẨM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Đặt các dòng máy lên bàn cân về thông số cấu hình và mức giá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Trực quan hóa sự khác biệt về vi xử lý, camera, màn hình và pin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TRA CỨU BẢO HÀNH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Hỗ trợ kiểm tra thời hạn và chính sách bảo hành trực tuyến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Tra cứu tiến độ sửa chữa và lịch sử đổi trả thiết bị theo IMEI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FLOATING WIDGET ĐA KÊNH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Cụm nút liên hệ nhanh đa kênh (Zalo, Hotline, Messenger) luôn nổi bật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Biểu mẫu yêu cầu gọi lại (Callback Request) tiện lợi cho khách hàng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06 | GIAI ĐOẠN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TÍCH HỢP CÔNG NGHỆ HIỆN ĐẠI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Xác thực Google OAuth, cổng thanh toán số tự động và Trợ lý AI Chatbot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07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XÁC THỰC NGƯỜI DÙNG</a:t>
            </a:r>
          </a:p>
          <a:p>
            <a:pPr>
              <a:spcAft>
                <a:spcPts val="1400"/>
              </a:spcAft>
            </a:pPr>
            <a:r>
              <a:t>Google OAuth 2.0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Đăng nhập nhanh và bảo mật thông qua Google OAuth 2.0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Bảo mật tài khoản cao, không cần tạo thêm mật khẩu mới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THANH TOÁN TRỰC TUYẾN</a:t>
            </a:r>
          </a:p>
          <a:p>
            <a:pPr>
              <a:spcAft>
                <a:spcPts val="1400"/>
              </a:spcAft>
            </a:pPr>
            <a:r>
              <a:t>Cổng Thanh Toán Giả Lập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Tích hợp thanh toán quét mã QR qua VietQR Napas247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Cổng thanh toán ví điện tử MoMo Sandbox API v2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TRỢ LÝ ẢO AI CHATBOT</a:t>
            </a:r>
          </a:p>
          <a:p>
            <a:pPr>
              <a:spcAft>
                <a:spcPts val="1400"/>
              </a:spcAft>
            </a:pPr>
            <a:r>
              <a:t>AI Đa Vai Trò Thông Minh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Tư vấn chọn máy tự động 24/7 theo ngân sách và nhu cầu của khách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Phân quyền phản hồi AI thông minh theo từng vai trò trong hệ thống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07 | GIAI ĐOẠN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QUẢN TRỊ, UI HIỆN ĐẠI &amp; LOYALTY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Chế độ Dark Mode chống mỏi mắt, phân hạng thành viên và bàn làm việc nhân viên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08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CHẾ ĐỘ TỐI (DARK MODE)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Chuyển đổi mượt mà giữa Sáng/Tối (Light/Dark) với 1 click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Bảng màu tối ưu hóa chống mỏi mắt cho người dùng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01168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HẠNG THÀNH VIÊN (MEMBERSHIP)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Xếp hạng bậc Đồng, Bạc, Vàng, Kim Cương theo tích lũy chi tiêu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Cấp thẻ hội viên số và đặc quyền chiết khấu tự động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BẢNG ĐIỀU KHIỂN NHÂN VIÊN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Staff Dashboard phân chia quyền hạn xử lý giữa Admin và Nhân viên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Tối ưu hóa thao tác duyệt đơn, xuất kho và tra cứu bảo hành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4023360"/>
            <a:ext cx="5193792" cy="1965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06240"/>
            <a:ext cx="4736592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800"/>
              </a:spcAft>
            </a:pPr>
            <a:r>
              <a:t>TÀI LIỆU HÓA HỆ THỐNG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Cập nhật hướng dẫn cài đặt và vận hành hệ thống qua file README.md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Công cụ db_sync_tool.php hỗ trợ sao lưu và đồng bộ CSDL tự động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08 | KỸ THUẬT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lnSpc>
                <a:spcPct val="115000"/>
              </a:lnSpc>
              <a:spcAft>
                <a:spcPts val="200"/>
              </a:spcAft>
            </a:pPr>
            <a:r>
              <a:t>KIẾN TRÚC KỸ THUẬT &amp; CODE BASE</a:t>
            </a: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t>Tổ chức mô hình MVC, cơ chế an toàn bảo mật dữ liệu và quy trình DevOps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lIns="0" tIns="0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tIns="0" rIns="0" anchor="t">
            <a:spAutoFit/>
          </a:bodyPr>
          <a:lstStyle/>
          <a:p>
            <a:pPr algn="r"/>
            <a:r>
              <a:t>09 /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MÔ HÌNH KIẾN TRÚC</a:t>
            </a:r>
          </a:p>
          <a:p>
            <a:pPr>
              <a:spcAft>
                <a:spcPts val="1400"/>
              </a:spcAft>
            </a:pPr>
            <a:r>
              <a:t>Kiến Trúc MVC Thuần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Mô hình MVC (Model - View - Controller) phân tách rõ luồng dữ liệu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Tách biệt hoàn toàn xử lý nghiệp vụ khỏi giao diện hiển thị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AN TOÀN BẢO MẬT</a:t>
            </a:r>
          </a:p>
          <a:p>
            <a:pPr>
              <a:spcAft>
                <a:spcPts val="1400"/>
              </a:spcAft>
            </a:pPr>
            <a:r>
              <a:t>Bảo Mật Cơ Sở Dữ Liệu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Sử dụng PDO Prepared Statements chống triệt để SQL Injection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Mã hóa mật khẩu bằng thuật toán Bcrypt; xử lý biến môi trường an toàn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4" y="1828800"/>
            <a:ext cx="3364992" cy="42793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2011680"/>
            <a:ext cx="2907792" cy="39136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QUY TRÌNH DEVOPS</a:t>
            </a:r>
          </a:p>
          <a:p>
            <a:pPr>
              <a:spcAft>
                <a:spcPts val="1400"/>
              </a:spcAft>
            </a:pPr>
            <a:r>
              <a:t>Quản Lý Git / GitHub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Quản lý phiên bản chặt chẽ bằng Git và lưu trữ mã nguồn trên GitHub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334155"/>
                </a:solidFill>
                <a:latin typeface="Arial"/>
              </a:rPr>
              <a:t>•  Đồng bộ dữ liệu liên tục giữa các môi trường làm việc macOS và Windows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47472"/>
            <a:ext cx="3474720" cy="310896"/>
          </a:xfrm>
          <a:prstGeom prst="roundRect">
            <a:avLst/>
          </a:prstGeom>
          <a:solidFill>
            <a:srgbClr val="1E293B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36576" rtlCol="0" anchor="t"/>
          <a:lstStyle/>
          <a:p>
            <a:pPr algn="ctr"/>
            <a:r>
              <a:t>TỔNG KẾT &amp; TRI ÂN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86868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>
              <a:spcAft>
                <a:spcPts val="200"/>
              </a:spcAft>
            </a:pPr>
            <a:r>
              <a:t>KẾT QUẢ ĐẠT ĐƯỢC &amp; HƯỚNG MỞ RỘNG</a:t>
            </a:r>
          </a:p>
          <a:p>
            <a:r>
              <a:t>Hệ thống VPhone Store hoàn chỉnh từ Front-end khách hàng đến Back-end quản trị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728655" cy="18288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193792" cy="31089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11680"/>
            <a:ext cx="473659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KẾT QUẢ ĐẠT ĐƯỢC</a:t>
            </a:r>
          </a:p>
          <a:p>
            <a:pPr>
              <a:spcAft>
                <a:spcPts val="1400"/>
              </a:spcAft>
            </a:pPr>
            <a:r>
              <a:t>Giá Trị Hệ Thống Hoàn Chỉnh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Hệ thống hoàn chỉnh từ Front-end khách hàng đến Back-end quản trị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Tốc độ phản hồi nhanh, giao diện thân thiện chuẩn Responsive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Vận hành ổn định trên máy chủ Apache + MySQL (XAMPP trên macOS)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193792" cy="3108960"/>
          </a:xfrm>
          <a:prstGeom prst="roundRect">
            <a:avLst/>
          </a:prstGeom>
          <a:solidFill>
            <a:srgbClr val="112240"/>
          </a:solidFill>
          <a:ln w="1524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736592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200"/>
              </a:spcAft>
            </a:pPr>
            <a:r>
              <a:t>HƯỚNG MỞ RỘNG</a:t>
            </a:r>
          </a:p>
          <a:p>
            <a:pPr>
              <a:spcAft>
                <a:spcPts val="1400"/>
              </a:spcAft>
            </a:pPr>
            <a:r>
              <a:t>Kế Hoạch Nâng Cấp Tương Lai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Mở rộng cổng thanh toán thực tế với thẻ quốc tế Visa/Mastercard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Tích hợp hệ thống thông báo đẩy (Push Notification) thời gian thực</a:t>
            </a:r>
          </a:p>
          <a:p>
            <a:pPr algn="l">
              <a:lnSpc>
                <a:spcPct val="118000"/>
              </a:lnSpc>
              <a:spcAft>
                <a:spcPts val="1000"/>
              </a:spcAft>
            </a:pPr>
            <a:r>
              <a:rPr sz="1500">
                <a:solidFill>
                  <a:srgbClr val="F1F5F9"/>
                </a:solidFill>
                <a:latin typeface="Arial"/>
              </a:rPr>
              <a:t>•  Phát triển ứng dụng di động Mobile App đa nền tảng kết nối REST 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66360"/>
            <a:ext cx="10728655" cy="1051560"/>
          </a:xfrm>
          <a:prstGeom prst="roundRect">
            <a:avLst/>
          </a:prstGeom>
          <a:solidFill>
            <a:srgbClr val="1E40AF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10728655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t>XIN CHÂN THÀNH CẢM ƠN THẦY/CÔ VÀ CÁC BẠN ĐÃ LẮNG NGHE!</a:t>
            </a:r>
          </a:p>
          <a:p>
            <a:pPr algn="ctr"/>
            <a:r>
              <a:t>Sinh viên / Người thực hiện: Huỳnh Ba Lực  |  Đồ Án VPhone Store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82512"/>
            <a:ext cx="8686800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r>
              <a:t>VPhone Store — Báo Cáo Tiến Độ &amp; Quá Trình Phát Triển Hệ Thống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382512"/>
            <a:ext cx="1858975" cy="292608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/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Unknown Author</cp:lastModifiedBy>
  <cp:revision>1</cp:revision>
  <dcterms:created xsi:type="dcterms:W3CDTF">2013-01-27T09:14:16Z</dcterms:created>
  <dcterms:modified xsi:type="dcterms:W3CDTF">2026-10-23T05:29:19Z</dcterms:modified>
  <cp:category/>
</cp:coreProperties>
</file>